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is the machine: the phone films you, finds 33 joints, tracks one number (for a heel slide, the knee angle), then counts the rep and speaks one cue. Bottom row is the physiotherapist, sitting under the step each decision shapes — where the phone goes, which joint and what target, what counts as a fault and the exact words spoken. The gap under step 2 is the point: the pose model is the only off-the-shelf part of the chain. The closing line is the honesty tier — the physio also decides when the camera should not judge at all, which is why only 40 of 135 moves are coached on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5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2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jodd</a:t>
            </a:r>
            <a:pPr indent="0" marL="0">
              <a:buNone/>
            </a:pPr>
            <a:r>
              <a:rPr lang="en-US" sz="1700" b="1" dirty="0">
                <a:solidFill>
                  <a:srgbClr val="B8F5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.io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6809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3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and what the physio decides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350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watches you exercise, counts the reps and says one thing to fix. Every single thing it looks for was chosen by a physiotherapist.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470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2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PHONE DOES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74036" cy="2048256"/>
          </a:xfrm>
          <a:prstGeom prst="roundRect">
            <a:avLst>
              <a:gd name="adj" fmla="val 5804"/>
            </a:avLst>
          </a:prstGeom>
          <a:solidFill>
            <a:srgbClr val="3A2560"/>
          </a:solidFill>
          <a:ln w="12700">
            <a:solidFill>
              <a:srgbClr val="3A2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267712"/>
            <a:ext cx="347472" cy="347472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70048"/>
            <a:ext cx="2171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prop up the phone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127248"/>
            <a:ext cx="21717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films you from across the room. The video never leaves the phone.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72968" y="3044952"/>
            <a:ext cx="155448" cy="164592"/>
          </a:xfrm>
          <a:prstGeom prst="triangle">
            <a:avLst/>
          </a:prstGeom>
          <a:solidFill>
            <a:srgbClr val="5A3F78"/>
          </a:solidFill>
          <a:ln w="12700">
            <a:solidFill>
              <a:srgbClr val="5A3F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8708" y="2103120"/>
            <a:ext cx="2574036" cy="2048256"/>
          </a:xfrm>
          <a:prstGeom prst="roundRect">
            <a:avLst>
              <a:gd name="adj" fmla="val 5804"/>
            </a:avLst>
          </a:prstGeom>
          <a:solidFill>
            <a:srgbClr val="3A2560"/>
          </a:solidFill>
          <a:ln w="12700">
            <a:solidFill>
              <a:srgbClr val="3A2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9876" y="2267712"/>
            <a:ext cx="347472" cy="347472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79876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670048"/>
            <a:ext cx="2171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your joints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79876" y="3127248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times a second, the picture becomes 33 dots — shoulders, hips, knees, ankles.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03036" y="3044952"/>
            <a:ext cx="155448" cy="164592"/>
          </a:xfrm>
          <a:prstGeom prst="triangle">
            <a:avLst/>
          </a:prstGeom>
          <a:solidFill>
            <a:srgbClr val="5A3F78"/>
          </a:solidFill>
          <a:ln w="12700">
            <a:solidFill>
              <a:srgbClr val="5A3F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2103120"/>
            <a:ext cx="2574036" cy="2048256"/>
          </a:xfrm>
          <a:prstGeom prst="roundRect">
            <a:avLst>
              <a:gd name="adj" fmla="val 5804"/>
            </a:avLst>
          </a:prstGeom>
          <a:solidFill>
            <a:srgbClr val="3A2560"/>
          </a:solidFill>
          <a:ln w="12700">
            <a:solidFill>
              <a:srgbClr val="3A2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267712"/>
            <a:ext cx="347472" cy="347472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670048"/>
            <a:ext cx="2171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is the exercise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127248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heel slide, that number is the angle at your knee.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833104" y="3044952"/>
            <a:ext cx="155448" cy="164592"/>
          </a:xfrm>
          <a:prstGeom prst="triangle">
            <a:avLst/>
          </a:prstGeom>
          <a:solidFill>
            <a:srgbClr val="5A3F78"/>
          </a:solidFill>
          <a:ln w="12700">
            <a:solidFill>
              <a:srgbClr val="5A3F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38844" y="2103120"/>
            <a:ext cx="2574036" cy="2048256"/>
          </a:xfrm>
          <a:prstGeom prst="roundRect">
            <a:avLst>
              <a:gd name="adj" fmla="val 5804"/>
            </a:avLst>
          </a:prstGeom>
          <a:solidFill>
            <a:srgbClr val="3A2560"/>
          </a:solidFill>
          <a:ln w="12700">
            <a:solidFill>
              <a:srgbClr val="3A2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0012" y="2267712"/>
            <a:ext cx="347472" cy="347472"/>
          </a:xfrm>
          <a:prstGeom prst="ellipse">
            <a:avLst/>
          </a:prstGeom>
          <a:solidFill>
            <a:srgbClr val="FF2E88"/>
          </a:solidFill>
          <a:ln w="12700">
            <a:solidFill>
              <a:srgbClr val="FF2E8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40012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B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9240012" y="2670048"/>
            <a:ext cx="21717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counts, and it corrects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127248"/>
            <a:ext cx="21717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counts the rep, and when something slips it says one thing, out loud.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13832" y="3163824"/>
            <a:ext cx="109728" cy="109728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72100" y="3319272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82996" y="3319272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8092" y="3483864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47004" y="3483864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0660" y="3648456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74436" y="3648456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36108" y="3575304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18988" y="3575304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08676" y="3776472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46420" y="3776472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0388" y="3959352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4708" y="3959352"/>
            <a:ext cx="82296" cy="82296"/>
          </a:xfrm>
          <a:prstGeom prst="ellipse">
            <a:avLst/>
          </a:prstGeom>
          <a:solidFill>
            <a:srgbClr val="B8F542"/>
          </a:solidFill>
          <a:ln w="12700">
            <a:solidFill>
              <a:srgbClr val="B8F54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9944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90°</a:t>
            </a:r>
            <a:endParaRPr lang="en-US" sz="3000" dirty="0"/>
          </a:p>
        </p:txBody>
      </p:sp>
      <p:sp>
        <p:nvSpPr>
          <p:cNvPr id="43" name="Text 41"/>
          <p:cNvSpPr txBox="1"/>
          <p:nvPr/>
        </p:nvSpPr>
        <p:spPr>
          <a:xfrm>
            <a:off x="6409944" y="3931920"/>
            <a:ext cx="21717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bend this rep must reach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3708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PHYSIOTHERAPIST DECIDES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4608576"/>
            <a:ext cx="2574036" cy="1188720"/>
          </a:xfrm>
          <a:prstGeom prst="roundRect">
            <a:avLst>
              <a:gd name="adj" fmla="val 10000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" y="4750308"/>
            <a:ext cx="146304" cy="146304"/>
          </a:xfrm>
          <a:prstGeom prst="ellipse">
            <a:avLst/>
          </a:prstGeom>
          <a:solidFill>
            <a:srgbClr val="B8F542"/>
          </a:solidFill>
          <a:ln w="12700">
            <a:solidFill>
              <a:srgbClr val="5A3F7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9264" y="4700016"/>
            <a:ext cx="19522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phone goes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749808" y="5120640"/>
            <a:ext cx="21717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floor, two metres back, seeing you side-on — so the joints that matter are in shot.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08776" y="4608576"/>
            <a:ext cx="2574036" cy="1188720"/>
          </a:xfrm>
          <a:prstGeom prst="roundRect">
            <a:avLst>
              <a:gd name="adj" fmla="val 10000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9944" y="4750308"/>
            <a:ext cx="146304" cy="146304"/>
          </a:xfrm>
          <a:prstGeom prst="ellipse">
            <a:avLst/>
          </a:prstGeom>
          <a:solidFill>
            <a:srgbClr val="B8F542"/>
          </a:solidFill>
          <a:ln w="12700">
            <a:solidFill>
              <a:srgbClr val="5A3F7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29400" y="4700016"/>
            <a:ext cx="19522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and target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6409944" y="5120640"/>
            <a:ext cx="21717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knee, not the hip. Bend to 90°, and 60° to 120° as the knee recovers.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038844" y="4608576"/>
            <a:ext cx="2574036" cy="1188720"/>
          </a:xfrm>
          <a:prstGeom prst="roundRect">
            <a:avLst>
              <a:gd name="adj" fmla="val 10000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40012" y="4750308"/>
            <a:ext cx="146304" cy="146304"/>
          </a:xfrm>
          <a:prstGeom prst="ellipse">
            <a:avLst/>
          </a:prstGeom>
          <a:solidFill>
            <a:srgbClr val="B8F542"/>
          </a:solidFill>
          <a:ln w="12700">
            <a:solidFill>
              <a:srgbClr val="5A3F7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459468" y="4700016"/>
            <a:ext cx="19522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5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fault and the cue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9240012" y="5120640"/>
            <a:ext cx="21717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3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“Heel lifting off the floor” — when it counts, and what you hear: “Keep your heel down.”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3378708" y="4937760"/>
            <a:ext cx="25740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part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60167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physio also says when the camera should not judge at all. </a:t>
            </a:r>
            <a:pPr indent="0" marL="0">
              <a:buNone/>
            </a:pPr>
            <a:r>
              <a:rPr lang="en-US" sz="115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135 moves: </a:t>
            </a:r>
            <a:pPr indent="0" marL="0">
              <a:buNone/>
            </a:pPr>
            <a:r>
              <a:rPr lang="en-US" sz="1150" b="1" dirty="0">
                <a:solidFill>
                  <a:srgbClr val="B8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pPr indent="0" marL="0">
              <a:buNone/>
            </a:pPr>
            <a:r>
              <a:rPr lang="en-US" sz="115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coached on form · </a:t>
            </a:r>
            <a:pPr indent="0" marL="0">
              <a:buNone/>
            </a:pPr>
            <a:r>
              <a:rPr lang="en-US" sz="11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pPr indent="0" marL="0">
              <a:buNone/>
            </a:pPr>
            <a:r>
              <a:rPr lang="en-US" sz="115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counted only · </a:t>
            </a:r>
            <a:pPr indent="0" marL="0">
              <a:buNone/>
            </a:pPr>
            <a:r>
              <a:rPr lang="en-US" sz="1150" b="1" dirty="0">
                <a:solidFill>
                  <a:srgbClr val="FF2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pPr indent="0" marL="0">
              <a:buNone/>
            </a:pPr>
            <a:r>
              <a:rPr lang="en-US" sz="1150" dirty="0">
                <a:solidFill>
                  <a:srgbClr val="B9A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guided, and logged by hand.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2026-09-14T08:08:52Z</dcterms:created>
  <dcterms:modified xsi:type="dcterms:W3CDTF">2026-09-14T08:08:52Z</dcterms:modified>
</cp:coreProperties>
</file>